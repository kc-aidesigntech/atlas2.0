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 spc="320">
                <a:solidFill>
                  <a:srgbClr val="81BC36"/>
                </a:solidFill>
                <a:latin typeface="Helvetica Neue"/>
              </a:rPr>
              <a:t>ATLAS × LUCID LIVING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96596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Helvetica Neue"/>
              </a:rPr>
              <a:t>Navigator</a:t>
            </a:r>
          </a:p>
          <a:p>
            <a:pPr algn="l"/>
            <a:r>
              <a:rPr sz="3000" b="1" i="0">
                <a:solidFill>
                  <a:srgbClr val="81BC36"/>
                </a:solidFill>
                <a:latin typeface="Helvetica Neue"/>
              </a:rPr>
              <a:t>Pilot Exploration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7C7C7"/>
                </a:solidFill>
                <a:latin typeface="Helvetica Neue"/>
              </a:rPr>
              <a:t>Front-line case work, scoped to your assignments. You see only your two assigned enrollees and drive their journey end to 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892040"/>
            <a:ext cx="6949440" cy="1051560"/>
          </a:xfrm>
          <a:prstGeom prst="roundRect">
            <a:avLst/>
          </a:prstGeom>
          <a:solidFill>
            <a:srgbClr val="0C0C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50292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200">
                <a:solidFill>
                  <a:srgbClr val="81BC36"/>
                </a:solidFill>
                <a:latin typeface="Helvetica Neue"/>
              </a:rPr>
              <a:t>YOUR LOGIN</a:t>
            </a:r>
          </a:p>
          <a:p>
            <a:pPr algn="l"/>
            <a:r>
              <a:rPr sz="1700" b="1" i="0">
                <a:solidFill>
                  <a:srgbClr val="FFFFFF"/>
                </a:solidFill>
                <a:latin typeface="Helvetica Neue"/>
              </a:rPr>
              <a:t>pilot.navigator@atlas.test      ·      AtlasPilot2026!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81BC36"/>
                </a:solidFill>
                <a:latin typeface="Helvetica Neue"/>
              </a:rPr>
              <a:t>STEP 1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Sign in as Navigator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http://localhost:5173/app, role switcher → Navigator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Sign in and open the enrollee dropdown.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Only Sandra Morrison and Marcus Thompson appear — your assignments.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81BC36"/>
                </a:solidFill>
                <a:latin typeface="Helvetica Neue"/>
              </a:rPr>
              <a:t>STEP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Claim an enrollment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requests to enroll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Pick a queued enrollment and claim it to yourself.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It moves into your assigned list.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fn_navigator_assign_enrollment_to_self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81BC36"/>
                </a:solidFill>
                <a:latin typeface="Helvetica Neue"/>
              </a:rPr>
              <a:t>STEP 3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Complete an enrollee burden survey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open an enrollee → burden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Fill the domain-spectrum survey and Submit.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Submission saves and history updates.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fn_save_enrollee_burden_submission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81BC36"/>
                </a:solidFill>
                <a:latin typeface="Helvetica Neue"/>
              </a:rPr>
              <a:t>STEP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Take a regulation / renewal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Regulation Tests panel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Complete the test and Submit.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Result is recorded against your profile.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fn_save_regulation_test_submission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81BC36"/>
                </a:solidFill>
                <a:latin typeface="Helvetica Neue"/>
              </a:rPr>
              <a:t>STEP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Record a competency self-assessment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navigator assessments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Score the competency rubric and save.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Self-assessment is stored.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fn_save_navigator_competency_assessment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81BC36"/>
                </a:solidFill>
                <a:latin typeface="Helvetica Neue"/>
              </a:rPr>
              <a:t>STEP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Intake inferred Z-codes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enrollee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Confirm the inferred Z-codes for an enrollment, save.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Z-codes attach to the enrollment.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fn_intake_enrollment_inferred_z_codes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3400" b="1">
                <a:solidFill>
                  <a:srgbClr val="000000"/>
                </a:solidFill>
                <a:latin typeface="Helvetica Neue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40" y="84124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81BC36"/>
                </a:solidFill>
                <a:latin typeface="Helvetica Neue"/>
              </a:rPr>
              <a:t>STEP 7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170432"/>
            <a:ext cx="9692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Helvetica Neue"/>
              </a:rPr>
              <a:t>Resolve a Z-code to a partner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10515600" cy="12700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WHERE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752344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enrollee Z-code strip → resolve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7647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FFFFFF"/>
                </a:solidFill>
                <a:latin typeface="Helvetica Neue"/>
              </a:rPr>
              <a:t>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3739896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Helvetica Neue"/>
              </a:rPr>
              <a:t>Mark a Z-code resolved and attribute it to a partner.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64024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 spc="180">
                <a:solidFill>
                  <a:srgbClr val="81BC36"/>
                </a:solidFill>
                <a:latin typeface="Helvetica Neue"/>
              </a:rPr>
              <a:t>EXPECT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4727448"/>
            <a:ext cx="8869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C7C7C7"/>
                </a:solidFill>
                <a:latin typeface="Helvetica Neue"/>
              </a:rPr>
              <a:t>The Z-code shows resolved with partner attribution.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5769864"/>
            <a:ext cx="8595360" cy="566928"/>
          </a:xfrm>
          <a:prstGeom prst="round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5870448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50">
                <a:solidFill>
                  <a:srgbClr val="8F8F8F"/>
                </a:solidFill>
                <a:latin typeface="Helvetica Neue"/>
              </a:rPr>
              <a:t>RPC  </a:t>
            </a:r>
            <a:r>
              <a:rPr sz="1200">
                <a:solidFill>
                  <a:srgbClr val="81BC36"/>
                </a:solidFill>
                <a:latin typeface="Menlo"/>
              </a:rPr>
              <a:t>fn_set_enrollee_z_code_resolution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 spc="260">
                <a:solidFill>
                  <a:srgbClr val="81BC36"/>
                </a:solidFill>
                <a:latin typeface="Helvetica Neue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1691640"/>
            <a:ext cx="10607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Helvetica Neue"/>
              </a:rPr>
              <a:t>Verify &amp; reset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871216"/>
            <a:ext cx="146304" cy="146304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7889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Confirm alignment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Run verification/pilot_verify.sql to replay every screen read under this identity and print an ok / row-count / error table — no clicking required.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922776"/>
            <a:ext cx="146304" cy="146304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840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Fail-loud by design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A red banner means a real permission/RLS denial, not an empty screen. The workspace never hides a denial behind blank data.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4974336"/>
            <a:ext cx="146304" cy="146304"/>
          </a:xfrm>
          <a:prstGeom prst="ellipse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8920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Helvetica Neue"/>
              </a:rPr>
              <a:t>Reset the pilot  </a:t>
            </a:r>
            <a:r>
              <a:rPr sz="1500">
                <a:solidFill>
                  <a:srgbClr val="C7C7C7"/>
                </a:solidFill>
                <a:latin typeface="Helvetica Neue"/>
              </a:rPr>
              <a:t>— Re-run verification/pilot_setup.sql (idempotent) to recreate the four logins and their seeded scope at any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55080"/>
            <a:ext cx="457200" cy="38100"/>
          </a:xfrm>
          <a:prstGeom prst="rect">
            <a:avLst/>
          </a:prstGeom>
          <a:solidFill>
            <a:srgbClr val="81B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6272784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60">
                <a:solidFill>
                  <a:srgbClr val="8F8F8F"/>
                </a:solidFill>
                <a:latin typeface="Helvetica Neue"/>
              </a:rPr>
              <a:t>atlas × lucid living   —   Community Navigation Platform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272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50" b="0" i="0">
                <a:solidFill>
                  <a:srgbClr val="8F8F8F"/>
                </a:solidFill>
                <a:latin typeface="Helvetica Neue"/>
              </a:rPr>
              <a:t>PILOT.md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