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CC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 spc="320">
                <a:solidFill>
                  <a:srgbClr val="81BC36"/>
                </a:solidFill>
                <a:latin typeface="Helvetica Neue"/>
              </a:rPr>
              <a:t>ATLAS × LUCID LIVING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1965960"/>
            <a:ext cx="1060704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Helvetica Neue"/>
              </a:rPr>
              <a:t>Administrator</a:t>
            </a:r>
          </a:p>
          <a:p>
            <a:pPr algn="l"/>
            <a:r>
              <a:rPr sz="3000" b="1" i="0">
                <a:solidFill>
                  <a:srgbClr val="FCC01A"/>
                </a:solidFill>
                <a:latin typeface="Helvetica Neue"/>
              </a:rPr>
              <a:t>Pilot Exploration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1480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C7C7C7"/>
                </a:solidFill>
                <a:latin typeface="Helvetica Neue"/>
              </a:rPr>
              <a:t>Full-access governance. You see every enrollee and configure who can access what — while data-warehouse exports stay locked to the service role.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892040"/>
            <a:ext cx="6949440" cy="1051560"/>
          </a:xfrm>
          <a:prstGeom prst="roundRect">
            <a:avLst/>
          </a:prstGeom>
          <a:solidFill>
            <a:srgbClr val="0C0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5029200"/>
            <a:ext cx="65836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 spc="200">
                <a:solidFill>
                  <a:srgbClr val="FCC01A"/>
                </a:solidFill>
                <a:latin typeface="Helvetica Neue"/>
              </a:rPr>
              <a:t>YOUR LOGIN</a:t>
            </a:r>
          </a:p>
          <a:p>
            <a:pPr algn="l"/>
            <a:r>
              <a:rPr sz="1700" b="1" i="0">
                <a:solidFill>
                  <a:srgbClr val="FFFFFF"/>
                </a:solidFill>
                <a:latin typeface="Helvetica Neue"/>
              </a:rPr>
              <a:t>pilot.admin@atlas.test      ·      AtlasPilot2026!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355080"/>
            <a:ext cx="457200" cy="38100"/>
          </a:xfrm>
          <a:prstGeom prst="rect">
            <a:avLst/>
          </a:prstGeom>
          <a:solidFill>
            <a:srgbClr val="FCC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6272784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spc="60">
                <a:solidFill>
                  <a:srgbClr val="8F8F8F"/>
                </a:solidFill>
                <a:latin typeface="Helvetica Neue"/>
              </a:rPr>
              <a:t>atlas × lucid living   —   Community Navigation Platform 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272784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8F8F8F"/>
                </a:solidFill>
                <a:latin typeface="Helvetica Neue"/>
              </a:rPr>
              <a:t>PILOT.md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CC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" y="777240"/>
            <a:ext cx="914400" cy="914400"/>
          </a:xfrm>
          <a:prstGeom prst="ellipse">
            <a:avLst/>
          </a:prstGeom>
          <a:solidFill>
            <a:srgbClr val="FCC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400" b="1">
                <a:solidFill>
                  <a:srgbClr val="000000"/>
                </a:solidFill>
                <a:latin typeface="Helvetica Neue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20240" y="841248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 spc="240">
                <a:solidFill>
                  <a:srgbClr val="FCC01A"/>
                </a:solidFill>
                <a:latin typeface="Helvetica Neue"/>
              </a:rPr>
              <a:t>STEP 1 OF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1170432"/>
            <a:ext cx="96926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Helvetica Neue"/>
              </a:rPr>
              <a:t>Sign in as Administrator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514600"/>
            <a:ext cx="10515600" cy="1270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788920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 spc="180">
                <a:solidFill>
                  <a:srgbClr val="81BC36"/>
                </a:solidFill>
                <a:latin typeface="Helvetica Neue"/>
              </a:rPr>
              <a:t>WHERE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2752344"/>
            <a:ext cx="88696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C7C7C7"/>
                </a:solidFill>
                <a:latin typeface="Helvetica Neue"/>
              </a:rPr>
              <a:t>http://localhost:5173/app, role switcher → Administrator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76472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 spc="180">
                <a:solidFill>
                  <a:srgbClr val="FFFFFF"/>
                </a:solidFill>
                <a:latin typeface="Helvetica Neue"/>
              </a:rPr>
              <a:t>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3739896"/>
            <a:ext cx="88696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FFFFFF"/>
                </a:solidFill>
                <a:latin typeface="Helvetica Neue"/>
              </a:rPr>
              <a:t>Sign in, then open “assigned enrollees”.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764024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 spc="180">
                <a:solidFill>
                  <a:srgbClr val="FCC01A"/>
                </a:solidFill>
                <a:latin typeface="Helvetica Neue"/>
              </a:rPr>
              <a:t>EXPECT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4727448"/>
            <a:ext cx="88696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C7C7C7"/>
                </a:solidFill>
                <a:latin typeface="Helvetica Neue"/>
              </a:rPr>
              <a:t>All 4 enrollees are visible (Sandra, Marcus, Elena, test-reference1).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6355080"/>
            <a:ext cx="457200" cy="38100"/>
          </a:xfrm>
          <a:prstGeom prst="rect">
            <a:avLst/>
          </a:prstGeom>
          <a:solidFill>
            <a:srgbClr val="FCC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6272784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spc="60">
                <a:solidFill>
                  <a:srgbClr val="8F8F8F"/>
                </a:solidFill>
                <a:latin typeface="Helvetica Neue"/>
              </a:rPr>
              <a:t>atlas × lucid living   —   Community Navigation Platform Pilot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6272784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8F8F8F"/>
                </a:solidFill>
                <a:latin typeface="Helvetica Neue"/>
              </a:rPr>
              <a:t>PILOT.md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CC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" y="777240"/>
            <a:ext cx="914400" cy="914400"/>
          </a:xfrm>
          <a:prstGeom prst="ellipse">
            <a:avLst/>
          </a:prstGeom>
          <a:solidFill>
            <a:srgbClr val="FCC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400" b="1">
                <a:solidFill>
                  <a:srgbClr val="000000"/>
                </a:solidFill>
                <a:latin typeface="Helvetica Neue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20240" y="841248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 spc="240">
                <a:solidFill>
                  <a:srgbClr val="FCC01A"/>
                </a:solidFill>
                <a:latin typeface="Helvetica Neue"/>
              </a:rPr>
              <a:t>STEP 2 OF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1170432"/>
            <a:ext cx="96926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Helvetica Neue"/>
              </a:rPr>
              <a:t>Set a person’s roles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514600"/>
            <a:ext cx="10515600" cy="1270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788920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 spc="180">
                <a:solidFill>
                  <a:srgbClr val="81BC36"/>
                </a:solidFill>
                <a:latin typeface="Helvetica Neue"/>
              </a:rPr>
              <a:t>WHERE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2752344"/>
            <a:ext cx="88696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C7C7C7"/>
                </a:solidFill>
                <a:latin typeface="Helvetica Neue"/>
              </a:rPr>
              <a:t>governance / system operations → Access Matrix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76472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 spc="180">
                <a:solidFill>
                  <a:srgbClr val="FFFFFF"/>
                </a:solidFill>
                <a:latin typeface="Helvetica Neue"/>
              </a:rPr>
              <a:t>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3739896"/>
            <a:ext cx="88696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FFFFFF"/>
                </a:solidFill>
                <a:latin typeface="Helvetica Neue"/>
              </a:rPr>
              <a:t>Pick a person, change their role chips, Save.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764024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 spc="180">
                <a:solidFill>
                  <a:srgbClr val="FCC01A"/>
                </a:solidFill>
                <a:latin typeface="Helvetica Neue"/>
              </a:rPr>
              <a:t>EXPECT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4727448"/>
            <a:ext cx="88696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C7C7C7"/>
                </a:solidFill>
                <a:latin typeface="Helvetica Neue"/>
              </a:rPr>
              <a:t>Roles persist and reload with the new assignment.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68880" y="5769864"/>
            <a:ext cx="8595360" cy="566928"/>
          </a:xfrm>
          <a:prstGeom prst="round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51760" y="5870448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 spc="150">
                <a:solidFill>
                  <a:srgbClr val="8F8F8F"/>
                </a:solidFill>
                <a:latin typeface="Helvetica Neue"/>
              </a:rPr>
              <a:t>RPC  </a:t>
            </a:r>
            <a:r>
              <a:rPr sz="1200">
                <a:solidFill>
                  <a:srgbClr val="81BC36"/>
                </a:solidFill>
                <a:latin typeface="Menlo"/>
              </a:rPr>
              <a:t>fn_access_matrix_save_person_roles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355080"/>
            <a:ext cx="457200" cy="38100"/>
          </a:xfrm>
          <a:prstGeom prst="rect">
            <a:avLst/>
          </a:prstGeom>
          <a:solidFill>
            <a:srgbClr val="FCC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6272784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spc="60">
                <a:solidFill>
                  <a:srgbClr val="8F8F8F"/>
                </a:solidFill>
                <a:latin typeface="Helvetica Neue"/>
              </a:rPr>
              <a:t>atlas × lucid living   —   Community Navigation Platform Pilot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272784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8F8F8F"/>
                </a:solidFill>
                <a:latin typeface="Helvetica Neue"/>
              </a:rPr>
              <a:t>PILOT.md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CC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" y="777240"/>
            <a:ext cx="914400" cy="914400"/>
          </a:xfrm>
          <a:prstGeom prst="ellipse">
            <a:avLst/>
          </a:prstGeom>
          <a:solidFill>
            <a:srgbClr val="FCC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400" b="1">
                <a:solidFill>
                  <a:srgbClr val="000000"/>
                </a:solidFill>
                <a:latin typeface="Helvetica Neue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20240" y="841248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 spc="240">
                <a:solidFill>
                  <a:srgbClr val="FCC01A"/>
                </a:solidFill>
                <a:latin typeface="Helvetica Neue"/>
              </a:rPr>
              <a:t>STEP 3 OF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1170432"/>
            <a:ext cx="96926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Helvetica Neue"/>
              </a:rPr>
              <a:t>Assign a navigator to an enrollment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514600"/>
            <a:ext cx="10515600" cy="1270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788920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 spc="180">
                <a:solidFill>
                  <a:srgbClr val="81BC36"/>
                </a:solidFill>
                <a:latin typeface="Helvetica Neue"/>
              </a:rPr>
              <a:t>WHERE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2752344"/>
            <a:ext cx="88696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C7C7C7"/>
                </a:solidFill>
                <a:latin typeface="Helvetica Neue"/>
              </a:rPr>
              <a:t>Access Matrix → enrollment navigators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76472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 spc="180">
                <a:solidFill>
                  <a:srgbClr val="FFFFFF"/>
                </a:solidFill>
                <a:latin typeface="Helvetica Neue"/>
              </a:rPr>
              <a:t>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3739896"/>
            <a:ext cx="88696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FFFFFF"/>
                </a:solidFill>
                <a:latin typeface="Helvetica Neue"/>
              </a:rPr>
              <a:t>Choose a navigator for an enrollment, Save.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764024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 spc="180">
                <a:solidFill>
                  <a:srgbClr val="FCC01A"/>
                </a:solidFill>
                <a:latin typeface="Helvetica Neue"/>
              </a:rPr>
              <a:t>EXPECT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4727448"/>
            <a:ext cx="88696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C7C7C7"/>
                </a:solidFill>
                <a:latin typeface="Helvetica Neue"/>
              </a:rPr>
              <a:t>The enrollment shows the new navigator.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68880" y="5769864"/>
            <a:ext cx="8595360" cy="566928"/>
          </a:xfrm>
          <a:prstGeom prst="round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51760" y="5870448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 spc="150">
                <a:solidFill>
                  <a:srgbClr val="8F8F8F"/>
                </a:solidFill>
                <a:latin typeface="Helvetica Neue"/>
              </a:rPr>
              <a:t>RPC  </a:t>
            </a:r>
            <a:r>
              <a:rPr sz="1200">
                <a:solidFill>
                  <a:srgbClr val="81BC36"/>
                </a:solidFill>
                <a:latin typeface="Menlo"/>
              </a:rPr>
              <a:t>fn_access_matrix_save_enrollment_navigators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355080"/>
            <a:ext cx="457200" cy="38100"/>
          </a:xfrm>
          <a:prstGeom prst="rect">
            <a:avLst/>
          </a:prstGeom>
          <a:solidFill>
            <a:srgbClr val="FCC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6272784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spc="60">
                <a:solidFill>
                  <a:srgbClr val="8F8F8F"/>
                </a:solidFill>
                <a:latin typeface="Helvetica Neue"/>
              </a:rPr>
              <a:t>atlas × lucid living   —   Community Navigation Platform Pilot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272784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8F8F8F"/>
                </a:solidFill>
                <a:latin typeface="Helvetica Neue"/>
              </a:rPr>
              <a:t>PILOT.md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CC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" y="777240"/>
            <a:ext cx="914400" cy="914400"/>
          </a:xfrm>
          <a:prstGeom prst="ellipse">
            <a:avLst/>
          </a:prstGeom>
          <a:solidFill>
            <a:srgbClr val="FCC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400" b="1">
                <a:solidFill>
                  <a:srgbClr val="000000"/>
                </a:solidFill>
                <a:latin typeface="Helvetica Neue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20240" y="841248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 spc="240">
                <a:solidFill>
                  <a:srgbClr val="FCC01A"/>
                </a:solidFill>
                <a:latin typeface="Helvetica Neue"/>
              </a:rPr>
              <a:t>STEP 4 OF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1170432"/>
            <a:ext cx="96926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Helvetica Neue"/>
              </a:rPr>
              <a:t>Assign supervisor → navigators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514600"/>
            <a:ext cx="10515600" cy="1270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788920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 spc="180">
                <a:solidFill>
                  <a:srgbClr val="81BC36"/>
                </a:solidFill>
                <a:latin typeface="Helvetica Neue"/>
              </a:rPr>
              <a:t>WHERE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2752344"/>
            <a:ext cx="88696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C7C7C7"/>
                </a:solidFill>
                <a:latin typeface="Helvetica Neue"/>
              </a:rPr>
              <a:t>Access Matrix → supervisors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76472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 spc="180">
                <a:solidFill>
                  <a:srgbClr val="FFFFFF"/>
                </a:solidFill>
                <a:latin typeface="Helvetica Neue"/>
              </a:rPr>
              <a:t>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3739896"/>
            <a:ext cx="88696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FFFFFF"/>
                </a:solidFill>
                <a:latin typeface="Helvetica Neue"/>
              </a:rPr>
              <a:t>Link a supervisor to one or more navigators, Save.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764024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 spc="180">
                <a:solidFill>
                  <a:srgbClr val="FCC01A"/>
                </a:solidFill>
                <a:latin typeface="Helvetica Neue"/>
              </a:rPr>
              <a:t>EXPECT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4727448"/>
            <a:ext cx="88696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C7C7C7"/>
                </a:solidFill>
                <a:latin typeface="Helvetica Neue"/>
              </a:rPr>
              <a:t>Supervision edges appear on the supervision board.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68880" y="5769864"/>
            <a:ext cx="8595360" cy="566928"/>
          </a:xfrm>
          <a:prstGeom prst="round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51760" y="5870448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 spc="150">
                <a:solidFill>
                  <a:srgbClr val="8F8F8F"/>
                </a:solidFill>
                <a:latin typeface="Helvetica Neue"/>
              </a:rPr>
              <a:t>RPC  </a:t>
            </a:r>
            <a:r>
              <a:rPr sz="1200">
                <a:solidFill>
                  <a:srgbClr val="81BC36"/>
                </a:solidFill>
                <a:latin typeface="Menlo"/>
              </a:rPr>
              <a:t>fn_access_matrix_save_navigator_supervisors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355080"/>
            <a:ext cx="457200" cy="38100"/>
          </a:xfrm>
          <a:prstGeom prst="rect">
            <a:avLst/>
          </a:prstGeom>
          <a:solidFill>
            <a:srgbClr val="FCC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6272784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spc="60">
                <a:solidFill>
                  <a:srgbClr val="8F8F8F"/>
                </a:solidFill>
                <a:latin typeface="Helvetica Neue"/>
              </a:rPr>
              <a:t>atlas × lucid living   —   Community Navigation Platform Pilot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272784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8F8F8F"/>
                </a:solidFill>
                <a:latin typeface="Helvetica Neue"/>
              </a:rPr>
              <a:t>PILOT.md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CC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" y="777240"/>
            <a:ext cx="914400" cy="914400"/>
          </a:xfrm>
          <a:prstGeom prst="ellipse">
            <a:avLst/>
          </a:prstGeom>
          <a:solidFill>
            <a:srgbClr val="FCC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400" b="1">
                <a:solidFill>
                  <a:srgbClr val="000000"/>
                </a:solidFill>
                <a:latin typeface="Helvetica Neue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20240" y="841248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 spc="240">
                <a:solidFill>
                  <a:srgbClr val="FCC01A"/>
                </a:solidFill>
                <a:latin typeface="Helvetica Neue"/>
              </a:rPr>
              <a:t>STEP 5 OF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1170432"/>
            <a:ext cx="96926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Helvetica Neue"/>
              </a:rPr>
              <a:t>Set partner primary contacts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514600"/>
            <a:ext cx="10515600" cy="1270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788920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 spc="180">
                <a:solidFill>
                  <a:srgbClr val="81BC36"/>
                </a:solidFill>
                <a:latin typeface="Helvetica Neue"/>
              </a:rPr>
              <a:t>WHERE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2752344"/>
            <a:ext cx="88696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C7C7C7"/>
                </a:solidFill>
                <a:latin typeface="Helvetica Neue"/>
              </a:rPr>
              <a:t>Access Matrix → partner contacts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76472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 spc="180">
                <a:solidFill>
                  <a:srgbClr val="FFFFFF"/>
                </a:solidFill>
                <a:latin typeface="Helvetica Neue"/>
              </a:rPr>
              <a:t>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3739896"/>
            <a:ext cx="88696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FFFFFF"/>
                </a:solidFill>
                <a:latin typeface="Helvetica Neue"/>
              </a:rPr>
              <a:t>Assign a primary contact to a partner org, Save.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764024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 spc="180">
                <a:solidFill>
                  <a:srgbClr val="FCC01A"/>
                </a:solidFill>
                <a:latin typeface="Helvetica Neue"/>
              </a:rPr>
              <a:t>EXPECT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4727448"/>
            <a:ext cx="88696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C7C7C7"/>
                </a:solidFill>
                <a:latin typeface="Helvetica Neue"/>
              </a:rPr>
              <a:t>That contact can now access the partner scope.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68880" y="5769864"/>
            <a:ext cx="8595360" cy="566928"/>
          </a:xfrm>
          <a:prstGeom prst="round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51760" y="5870448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 spc="150">
                <a:solidFill>
                  <a:srgbClr val="8F8F8F"/>
                </a:solidFill>
                <a:latin typeface="Helvetica Neue"/>
              </a:rPr>
              <a:t>RPC  </a:t>
            </a:r>
            <a:r>
              <a:rPr sz="1200">
                <a:solidFill>
                  <a:srgbClr val="81BC36"/>
                </a:solidFill>
                <a:latin typeface="Menlo"/>
              </a:rPr>
              <a:t>fn_access_matrix_save_partner_contacts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355080"/>
            <a:ext cx="457200" cy="38100"/>
          </a:xfrm>
          <a:prstGeom prst="rect">
            <a:avLst/>
          </a:prstGeom>
          <a:solidFill>
            <a:srgbClr val="FCC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6272784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spc="60">
                <a:solidFill>
                  <a:srgbClr val="8F8F8F"/>
                </a:solidFill>
                <a:latin typeface="Helvetica Neue"/>
              </a:rPr>
              <a:t>atlas × lucid living   —   Community Navigation Platform Pilot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272784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8F8F8F"/>
                </a:solidFill>
                <a:latin typeface="Helvetica Neue"/>
              </a:rPr>
              <a:t>PILOT.md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CC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" y="777240"/>
            <a:ext cx="914400" cy="914400"/>
          </a:xfrm>
          <a:prstGeom prst="ellipse">
            <a:avLst/>
          </a:prstGeom>
          <a:solidFill>
            <a:srgbClr val="FCC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400" b="1">
                <a:solidFill>
                  <a:srgbClr val="000000"/>
                </a:solidFill>
                <a:latin typeface="Helvetica Neue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20240" y="841248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 spc="240">
                <a:solidFill>
                  <a:srgbClr val="FCC01A"/>
                </a:solidFill>
                <a:latin typeface="Helvetica Neue"/>
              </a:rPr>
              <a:t>STEP 6 OF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1170432"/>
            <a:ext cx="96926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Helvetica Neue"/>
              </a:rPr>
              <a:t>Review Z-code survey history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514600"/>
            <a:ext cx="10515600" cy="1270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788920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 spc="180">
                <a:solidFill>
                  <a:srgbClr val="81BC36"/>
                </a:solidFill>
                <a:latin typeface="Helvetica Neue"/>
              </a:rPr>
              <a:t>WHERE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2752344"/>
            <a:ext cx="88696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C7C7C7"/>
                </a:solidFill>
                <a:latin typeface="Helvetica Neue"/>
              </a:rPr>
              <a:t>system operations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76472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 spc="180">
                <a:solidFill>
                  <a:srgbClr val="FFFFFF"/>
                </a:solidFill>
                <a:latin typeface="Helvetica Neue"/>
              </a:rPr>
              <a:t>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3739896"/>
            <a:ext cx="88696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FFFFFF"/>
                </a:solidFill>
                <a:latin typeface="Helvetica Neue"/>
              </a:rPr>
              <a:t>Open the Z-code domain survey history (admin-only).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764024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 spc="180">
                <a:solidFill>
                  <a:srgbClr val="FCC01A"/>
                </a:solidFill>
                <a:latin typeface="Helvetica Neue"/>
              </a:rPr>
              <a:t>EXPECT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4727448"/>
            <a:ext cx="88696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C7C7C7"/>
                </a:solidFill>
                <a:latin typeface="Helvetica Neue"/>
              </a:rPr>
              <a:t>Aggregated survey history loads.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6355080"/>
            <a:ext cx="457200" cy="38100"/>
          </a:xfrm>
          <a:prstGeom prst="rect">
            <a:avLst/>
          </a:prstGeom>
          <a:solidFill>
            <a:srgbClr val="FCC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6272784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spc="60">
                <a:solidFill>
                  <a:srgbClr val="8F8F8F"/>
                </a:solidFill>
                <a:latin typeface="Helvetica Neue"/>
              </a:rPr>
              <a:t>atlas × lucid living   —   Community Navigation Platform Pilot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6272784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8F8F8F"/>
                </a:solidFill>
                <a:latin typeface="Helvetica Neue"/>
              </a:rPr>
              <a:t>PILOT.md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CC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" y="777240"/>
            <a:ext cx="914400" cy="914400"/>
          </a:xfrm>
          <a:prstGeom prst="ellipse">
            <a:avLst/>
          </a:prstGeom>
          <a:solidFill>
            <a:srgbClr val="FCC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400" b="1">
                <a:solidFill>
                  <a:srgbClr val="000000"/>
                </a:solidFill>
                <a:latin typeface="Helvetica Neue"/>
              </a:rP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20240" y="841248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 spc="240">
                <a:solidFill>
                  <a:srgbClr val="FCC01A"/>
                </a:solidFill>
                <a:latin typeface="Helvetica Neue"/>
              </a:rPr>
              <a:t>STEP 7 OF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1170432"/>
            <a:ext cx="96926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Helvetica Neue"/>
              </a:rPr>
              <a:t>Confirm the warehouse is hidden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514600"/>
            <a:ext cx="10515600" cy="1270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788920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 spc="180">
                <a:solidFill>
                  <a:srgbClr val="81BC36"/>
                </a:solidFill>
                <a:latin typeface="Helvetica Neue"/>
              </a:rPr>
              <a:t>WHERE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2752344"/>
            <a:ext cx="88696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C7C7C7"/>
                </a:solidFill>
                <a:latin typeface="Helvetica Neue"/>
              </a:rPr>
              <a:t>anywhere in the workspace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76472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 spc="180">
                <a:solidFill>
                  <a:srgbClr val="FFFFFF"/>
                </a:solidFill>
                <a:latin typeface="Helvetica Neue"/>
              </a:rPr>
              <a:t>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3739896"/>
            <a:ext cx="88696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FFFFFF"/>
                </a:solidFill>
                <a:latin typeface="Helvetica Neue"/>
              </a:rPr>
              <a:t>Look for data-warehouse export views.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764024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 spc="180">
                <a:solidFill>
                  <a:srgbClr val="FCC01A"/>
                </a:solidFill>
                <a:latin typeface="Helvetica Neue"/>
              </a:rPr>
              <a:t>EXPECT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4727448"/>
            <a:ext cx="88696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C7C7C7"/>
                </a:solidFill>
                <a:latin typeface="Helvetica Neue"/>
              </a:rPr>
              <a:t>None are reachable — they are service-role only.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6355080"/>
            <a:ext cx="457200" cy="38100"/>
          </a:xfrm>
          <a:prstGeom prst="rect">
            <a:avLst/>
          </a:prstGeom>
          <a:solidFill>
            <a:srgbClr val="FCC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6272784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spc="60">
                <a:solidFill>
                  <a:srgbClr val="8F8F8F"/>
                </a:solidFill>
                <a:latin typeface="Helvetica Neue"/>
              </a:rPr>
              <a:t>atlas × lucid living   —   Community Navigation Platform Pilot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6272784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8F8F8F"/>
                </a:solidFill>
                <a:latin typeface="Helvetica Neue"/>
              </a:rPr>
              <a:t>PILOT.md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CC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 spc="260">
                <a:solidFill>
                  <a:srgbClr val="FCC01A"/>
                </a:solidFill>
                <a:latin typeface="Helvetica Neue"/>
              </a:rPr>
              <a:t>WRAP-UP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1691640"/>
            <a:ext cx="106070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Helvetica Neue"/>
              </a:rPr>
              <a:t>Verify &amp; reset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2871216"/>
            <a:ext cx="146304" cy="146304"/>
          </a:xfrm>
          <a:prstGeom prst="ellipse">
            <a:avLst/>
          </a:prstGeom>
          <a:solidFill>
            <a:srgbClr val="FCC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78892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Helvetica Neue"/>
              </a:rPr>
              <a:t>Confirm alignment  </a:t>
            </a:r>
            <a:r>
              <a:rPr sz="1500">
                <a:solidFill>
                  <a:srgbClr val="C7C7C7"/>
                </a:solidFill>
                <a:latin typeface="Helvetica Neue"/>
              </a:rPr>
              <a:t>— Run verification/pilot_verify.sql to replay every screen read under this identity and print an ok / row-count / error table — no clicking required.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3922776"/>
            <a:ext cx="146304" cy="146304"/>
          </a:xfrm>
          <a:prstGeom prst="ellipse">
            <a:avLst/>
          </a:prstGeom>
          <a:solidFill>
            <a:srgbClr val="FCC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84048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Helvetica Neue"/>
              </a:rPr>
              <a:t>Fail-loud by design  </a:t>
            </a:r>
            <a:r>
              <a:rPr sz="1500">
                <a:solidFill>
                  <a:srgbClr val="C7C7C7"/>
                </a:solidFill>
                <a:latin typeface="Helvetica Neue"/>
              </a:rPr>
              <a:t>— A red banner means a real permission/RLS denial, not an empty screen. The workspace never hides a denial behind blank data.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4974336"/>
            <a:ext cx="146304" cy="146304"/>
          </a:xfrm>
          <a:prstGeom prst="ellipse">
            <a:avLst/>
          </a:prstGeom>
          <a:solidFill>
            <a:srgbClr val="FCC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489204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Helvetica Neue"/>
              </a:rPr>
              <a:t>Reset the pilot  </a:t>
            </a:r>
            <a:r>
              <a:rPr sz="1500">
                <a:solidFill>
                  <a:srgbClr val="C7C7C7"/>
                </a:solidFill>
                <a:latin typeface="Helvetica Neue"/>
              </a:rPr>
              <a:t>— Re-run verification/pilot_setup.sql (idempotent) to recreate the four logins and their seeded scope at any time.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355080"/>
            <a:ext cx="457200" cy="38100"/>
          </a:xfrm>
          <a:prstGeom prst="rect">
            <a:avLst/>
          </a:prstGeom>
          <a:solidFill>
            <a:srgbClr val="FCC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6272784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spc="60">
                <a:solidFill>
                  <a:srgbClr val="8F8F8F"/>
                </a:solidFill>
                <a:latin typeface="Helvetica Neue"/>
              </a:rPr>
              <a:t>atlas × lucid living   —   Community Navigation Platform Pilot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272784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8F8F8F"/>
                </a:solidFill>
                <a:latin typeface="Helvetica Neue"/>
              </a:rPr>
              <a:t>PILOT.md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