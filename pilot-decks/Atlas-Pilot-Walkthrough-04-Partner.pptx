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 spc="320">
                <a:solidFill>
                  <a:srgbClr val="81BC36"/>
                </a:solidFill>
                <a:latin typeface="Helvetica Neue"/>
              </a:rPr>
              <a:t>ATLAS × LUCID LIVING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965960"/>
            <a:ext cx="106070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Helvetica Neue"/>
              </a:rPr>
              <a:t>Partner</a:t>
            </a:r>
          </a:p>
          <a:p>
            <a:pPr algn="l"/>
            <a:r>
              <a:rPr sz="3000" b="1" i="0">
                <a:solidFill>
                  <a:srgbClr val="FCC01A"/>
                </a:solidFill>
                <a:latin typeface="Helvetica Neue"/>
              </a:rPr>
              <a:t>Pilot Exploration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C7C7C7"/>
                </a:solidFill>
                <a:latin typeface="Helvetica Neue"/>
              </a:rPr>
              <a:t>Community partner self-service. You report service capacity for your organization — with zero access to enrollee health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92040"/>
            <a:ext cx="6949440" cy="1051560"/>
          </a:xfrm>
          <a:prstGeom prst="roundRect">
            <a:avLst/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0292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FCC01A"/>
                </a:solidFill>
                <a:latin typeface="Helvetica Neue"/>
              </a:rPr>
              <a:t>YOUR LOGIN</a:t>
            </a:r>
          </a:p>
          <a:p>
            <a:pPr algn="l"/>
            <a:r>
              <a:rPr sz="1700" b="1" i="0">
                <a:solidFill>
                  <a:srgbClr val="FFFFFF"/>
                </a:solidFill>
                <a:latin typeface="Helvetica Neue"/>
              </a:rPr>
              <a:t>pilot.partner@atlas.test      ·      AtlasPilot2026!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000000"/>
                </a:solidFill>
                <a:latin typeface="Helvetica Neue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57200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240">
                <a:solidFill>
                  <a:srgbClr val="FCC01A"/>
                </a:solidFill>
                <a:latin typeface="Helvetica Neue"/>
              </a:rPr>
              <a:t>STEP 1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74980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Helvetica Neue"/>
              </a:rPr>
              <a:t>Sign in as Partner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82896" y="1819655"/>
            <a:ext cx="7077456" cy="4029075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sign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74519"/>
            <a:ext cx="6967728" cy="39193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37760" y="5903594"/>
            <a:ext cx="69677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 spc="60">
                <a:solidFill>
                  <a:srgbClr val="8F8F8F"/>
                </a:solidFill>
                <a:latin typeface="Helvetica Neue"/>
              </a:rPr>
              <a:t>live capture · localhost:5173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5798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http://localhost:5173/app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3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FFFFF"/>
                </a:solidFill>
                <a:latin typeface="Helvetica Neue"/>
              </a:rPr>
              <a:t>Enter the partner login and password, then “sign in with email”.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CC01A"/>
                </a:solidFill>
                <a:latin typeface="Helvetica Neue"/>
              </a:rPr>
              <a:t>EXPECT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5254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The workspace opens to your organization — no enrollee roster.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000000"/>
                </a:solidFill>
                <a:latin typeface="Helvetica Neue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57200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240">
                <a:solidFill>
                  <a:srgbClr val="FCC01A"/>
                </a:solidFill>
                <a:latin typeface="Helvetica Neue"/>
              </a:rPr>
              <a:t>STEP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74980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Helvetica Neue"/>
              </a:rPr>
              <a:t>Your org capacity (no PHI)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82896" y="1819655"/>
            <a:ext cx="7077456" cy="4029075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capacit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74519"/>
            <a:ext cx="6967728" cy="39193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37760" y="5903594"/>
            <a:ext cx="69677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 spc="60">
                <a:solidFill>
                  <a:srgbClr val="8F8F8F"/>
                </a:solidFill>
                <a:latin typeface="Helvetica Neue"/>
              </a:rPr>
              <a:t>live capture · localhost:5173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5798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referral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3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FFFFF"/>
                </a:solidFill>
                <a:latin typeface="Helvetica Neue"/>
              </a:rPr>
              <a:t>Review your organization’s Z-code coverage and capacity overview.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CC01A"/>
                </a:solidFill>
                <a:latin typeface="Helvetica Neue"/>
              </a:rPr>
              <a:t>EXPECT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5254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You see your org’s Z-codes and radial scale — zero enrollee PHI.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000000"/>
                </a:solidFill>
                <a:latin typeface="Helvetica Neue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57200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240">
                <a:solidFill>
                  <a:srgbClr val="FCC01A"/>
                </a:solidFill>
                <a:latin typeface="Helvetica Neue"/>
              </a:rPr>
              <a:t>STEP 3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74980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Helvetica Neue"/>
              </a:rPr>
              <a:t>Your station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82896" y="1819655"/>
            <a:ext cx="7077456" cy="4029075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my_s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74519"/>
            <a:ext cx="6967728" cy="39193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37760" y="5903594"/>
            <a:ext cx="69677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 spc="60">
                <a:solidFill>
                  <a:srgbClr val="8F8F8F"/>
                </a:solidFill>
                <a:latin typeface="Helvetica Neue"/>
              </a:rPr>
              <a:t>live capture · localhost:5173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5798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my station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3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FFFFF"/>
                </a:solidFill>
                <a:latin typeface="Helvetica Neue"/>
              </a:rPr>
              <a:t>Open your station context for the organization.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CC01A"/>
                </a:solidFill>
                <a:latin typeface="Helvetica Neue"/>
              </a:rPr>
              <a:t>EXPECT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5254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Station Z-code coverage and unresolved categories are shown.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000000"/>
                </a:solidFill>
                <a:latin typeface="Helvetica Neue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57200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240">
                <a:solidFill>
                  <a:srgbClr val="FCC01A"/>
                </a:solidFill>
                <a:latin typeface="Helvetica Neue"/>
              </a:rPr>
              <a:t>STEP 4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74980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Helvetica Neue"/>
              </a:rPr>
              <a:t>Service capacity survey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82896" y="1819655"/>
            <a:ext cx="7077456" cy="4029075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service_capa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74519"/>
            <a:ext cx="6967728" cy="39193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37760" y="5903594"/>
            <a:ext cx="69677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 spc="60">
                <a:solidFill>
                  <a:srgbClr val="8F8F8F"/>
                </a:solidFill>
                <a:latin typeface="Helvetica Neue"/>
              </a:rPr>
              <a:t>live capture · localhost:5173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5798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service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3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FFFFF"/>
                </a:solidFill>
                <a:latin typeface="Helvetica Neue"/>
              </a:rPr>
              <a:t>Open the service-capacity survey history; start or edit a submission.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CC01A"/>
                </a:solidFill>
                <a:latin typeface="Helvetica Neue"/>
              </a:rPr>
              <a:t>EXPECT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5254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Completed runs stay read-only; new submissions save for your org.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21808"/>
            <a:ext cx="4160520" cy="749808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60">
                <a:solidFill>
                  <a:srgbClr val="8F8F8F"/>
                </a:solidFill>
                <a:latin typeface="Helvetica Neue"/>
              </a:rPr>
              <a:t>COMMAND RPC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05856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1BC36"/>
                </a:solidFill>
                <a:latin typeface="Menlo"/>
              </a:rPr>
              <a:t>fn_save_partner_service_capacity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000000"/>
                </a:solidFill>
                <a:latin typeface="Helvetica Neue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57200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240">
                <a:solidFill>
                  <a:srgbClr val="FCC01A"/>
                </a:solidFill>
                <a:latin typeface="Helvetica Neue"/>
              </a:rPr>
              <a:t>STEP 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74980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Helvetica Neue"/>
              </a:rPr>
              <a:t>Public referral (logged out)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82896" y="1819655"/>
            <a:ext cx="7077456" cy="4029075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public_refer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74519"/>
            <a:ext cx="6967728" cy="39193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37760" y="5903594"/>
            <a:ext cx="69677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 spc="60">
                <a:solidFill>
                  <a:srgbClr val="8F8F8F"/>
                </a:solidFill>
                <a:latin typeface="Helvetica Neue"/>
              </a:rPr>
              <a:t>live capture · localhost:5173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5798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http://localhost:5173/  (no login)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3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FFFFF"/>
                </a:solidFill>
                <a:latin typeface="Helvetica Neue"/>
              </a:rPr>
              <a:t>Sign out and submit a referral from the public Referral Portal.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CC01A"/>
                </a:solidFill>
                <a:latin typeface="Helvetica Neue"/>
              </a:rPr>
              <a:t>EXPECT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5254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It persists to the database for staff to claim later — the only anon write.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 spc="260">
                <a:solidFill>
                  <a:srgbClr val="FCC01A"/>
                </a:solidFill>
                <a:latin typeface="Helvetica Neue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69164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Verify &amp; reset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871216"/>
            <a:ext cx="146304" cy="146304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7889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Confirm alignment  </a:t>
            </a:r>
            <a:r>
              <a:rPr sz="1500">
                <a:solidFill>
                  <a:srgbClr val="C7C7C7"/>
                </a:solidFill>
                <a:latin typeface="Helvetica Neue"/>
              </a:rPr>
              <a:t>— Run verification/pilot_verify.sql to replay every screen read under this identity and print an ok / row-count / error table — no clicking required.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922776"/>
            <a:ext cx="146304" cy="146304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Fail-loud by design  </a:t>
            </a:r>
            <a:r>
              <a:rPr sz="1500">
                <a:solidFill>
                  <a:srgbClr val="C7C7C7"/>
                </a:solidFill>
                <a:latin typeface="Helvetica Neue"/>
              </a:rPr>
              <a:t>— A red banner means a real permission/RLS denial, not an empty screen. The workspace never hides a denial behind blank data.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974336"/>
            <a:ext cx="146304" cy="146304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8920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Reset the pilot  </a:t>
            </a:r>
            <a:r>
              <a:rPr sz="1500">
                <a:solidFill>
                  <a:srgbClr val="C7C7C7"/>
                </a:solidFill>
                <a:latin typeface="Helvetica Neue"/>
              </a:rPr>
              <a:t>— Re-run verification/pilot_setup.sql (idempotent) to recreate the four logins and their seeded scope at any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